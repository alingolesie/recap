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176" autoAdjust="0"/>
  </p:normalViewPr>
  <p:slideViewPr>
    <p:cSldViewPr snapToGrid="0" snapToObjects="1">
      <p:cViewPr varScale="1">
        <p:scale>
          <a:sx n="88" d="100"/>
          <a:sy n="88" d="100"/>
        </p:scale>
        <p:origin x="13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BBF24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FBBF24"/>
                </a:solidFill>
                <a:latin typeface="Arial"/>
              </a:rPr>
              <a:t>F1 Score by Class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500ml</c:v>
                </c:pt>
                <c:pt idx="1">
                  <c:v>750ml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</c:v>
                </c:pt>
                <c:pt idx="1">
                  <c:v>0.94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1-4681-916F-18956362A3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8FA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8FA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2033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BBF24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FBBF24"/>
                </a:solidFill>
                <a:latin typeface="Arial"/>
              </a:rPr>
              <a:t>Intent to Use RECAP (1-5)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Intent to Use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06B-412C-90F2-021581CD3D72}"/>
              </c:ext>
            </c:extLst>
          </c:dPt>
          <c:dPt>
            <c:idx val="1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6B-412C-90F2-021581CD3D72}"/>
              </c:ext>
            </c:extLst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06B-412C-90F2-021581CD3D72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06B-412C-90F2-021581CD3D72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06B-412C-90F2-021581CD3D72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06B-412C-90F2-021581CD3D72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Score 5 (Very Likely)</c:v>
                </c:pt>
                <c:pt idx="1">
                  <c:v>Score 4 (Likely)</c:v>
                </c:pt>
                <c:pt idx="2">
                  <c:v>Score 3 (Neutral)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</c:v>
                </c:pt>
                <c:pt idx="1">
                  <c:v>36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06B-412C-90F2-021581CD3D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8FAF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BBF24"/>
                </a:solidFill>
                <a:latin typeface="Arial"/>
              </a:defRPr>
            </a:pPr>
            <a:r>
              <a:rPr lang="en-GB" sz="1000" b="0" i="0" u="none" strike="noStrike">
                <a:solidFill>
                  <a:srgbClr val="FBBF24"/>
                </a:solidFill>
                <a:latin typeface="Arial"/>
              </a:rPr>
              <a:t>Top Positive SUS Items (out of 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Score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Q7: Easy to learn</c:v>
                </c:pt>
                <c:pt idx="1">
                  <c:v>Q1: Frequent use</c:v>
                </c:pt>
                <c:pt idx="2">
                  <c:v>Q3: Easy to use</c:v>
                </c:pt>
                <c:pt idx="3">
                  <c:v>Q9: Confidence</c:v>
                </c:pt>
                <c:pt idx="4">
                  <c:v>Q5: Well integrated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4.63</c:v>
                </c:pt>
                <c:pt idx="1">
                  <c:v>4.5</c:v>
                </c:pt>
                <c:pt idx="2">
                  <c:v>4.5</c:v>
                </c:pt>
                <c:pt idx="3">
                  <c:v>4.5</c:v>
                </c:pt>
                <c:pt idx="4">
                  <c:v>4.25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C5-4EBE-A66F-BEC466F41C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8FA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8FA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2033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86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91440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</a:rPr>
              <a:t>♻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0B981"/>
                </a:solidFill>
              </a:rPr>
              <a:t>RECAP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A Digital Incentive-Based Bottle Recycling System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QHO656-AE2 Dissertation Project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Alin Igna Golesie (10403019)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Supervisor: Ajmal Gharib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BSc (Hons) Computing Science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Southampton Solent University · 2025–2026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Introduction &amp; Problem Context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2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859536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The Plastic Waste Crisis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The UK generates approximately 5 million tonnes of plastic waste annually (WRAP, 2024). Despite kerbside collection, recycling rates remain consistently below European neighbours operating mature Deposit Return Schemes (Defra, 2023).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74320" y="23317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BBF24"/>
                </a:solidFill>
              </a:rPr>
              <a:t>5M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74320" y="28803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</a:rPr>
              <a:t>Tonnes plastic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</a:rPr>
              <a:t>waste/year UK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38328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</a:rPr>
              <a:t>WRAP, 2024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54680" y="224028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154680" y="23317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</a:rPr>
              <a:t>97%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154680" y="28803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</a:rPr>
              <a:t>Norway DRS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</a:rPr>
              <a:t>return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54680" y="338328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</a:rPr>
              <a:t>Reloop, 2024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35040" y="224028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035040" y="23317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</a:rPr>
              <a:t>2027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035040" y="28803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</a:rPr>
              <a:t>UK DRS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</a:rPr>
              <a:t>rollout (delayed)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338328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</a:rPr>
              <a:t>Defra, 2023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374904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Research Opportunity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0965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The gap between policy intention and DRS deployment creates an opportunity to explore how affordable technology can replicate the core mechanisms of a DRS at a prototype level.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Aim &amp; Research Question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3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85953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137160" cy="137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Project Aim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078992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To design, develop, and evaluate an affordable image-recognition prototype that identifies plastic bottles and rewards users through a digital incentive system, demonstrating the feasibility of a technology-supported deposit return scheme.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137160" cy="137160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864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</a:rPr>
              <a:t>Research Question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60604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FAFC"/>
                </a:solidFill>
              </a:rPr>
              <a:t>"How can an affordable image-recognition system, built with accessible tools, effectively identify plastic bottles to support a digital recycling incentive scheme?"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703320"/>
            <a:ext cx="859536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137160" cy="1234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8640" y="3776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Scope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050792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Functional proof-of-concept prototype. Excludes retailer integration, financial payment processing, and production-grade enclosures. Evaluated with university cohort convenience sample.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Objectives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4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57200" y="93268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9326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9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8503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Literature 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1247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DRS models, gamification theory, computer vision on embedded systems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0020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57200" y="180136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9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17190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Hardware Prototype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19933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Raspberry Pi 4 + Camera Module 3 with Picamera2 image capture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6888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57200" y="267004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7200" y="2670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9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25877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ML Classification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8620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Train and deploy real-time classifier via Edge Impulse Studio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57200" y="353872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57200" y="3538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9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34564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 &amp; Web App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7307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Node.js/Express + React/TypeScript + Firebase authentication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20624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57200" y="44074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57200" y="4407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9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5840" y="43251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45994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Technical accuracy testing + SUS questionnaire (Lewis, 2018)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Literature Review — DRS &amp; Gamification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5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4160520" cy="416052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416052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5760" y="7132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9"/>
                </a:solidFill>
              </a:rPr>
              <a:t>Deposit Return Schemes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14300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International evidence shows DRS effectiveness: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• Germany, Norway, Sweden: &gt;90% return rates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• Norway: 97% — global benchmark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• Financial incentive proven highly effective at changing consumer behaviour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• UK government committed but delayed to October 2027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(Reloop Platform, 2024; Defra, 2023)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09160" y="685800"/>
            <a:ext cx="4160520" cy="416052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09160" y="685800"/>
            <a:ext cx="4160520" cy="3657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800600" y="7132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9"/>
                </a:solidFill>
              </a:rPr>
              <a:t>Gamification &amp; Behaviour Change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14300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Strong evidence for points-based systems: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• Koivisto &amp; Hamari (2019): 819-study review confirms points/badges/leaderboards drive engagement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• Krath &amp; von Korflesch (2021): immediate visible feedback sustains behaviour change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• Direct justification for RECAP's instant points-on-scan design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46177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(Koivisto &amp; Hamari, 2019; Krath &amp; von Korflesch, 2021)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Literature Review — ML &amp; Usability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6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4160520" cy="416052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416052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5760" y="7132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9"/>
                </a:solidFill>
              </a:rPr>
              <a:t>ML on Embedded Systems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14300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Transfer learning enables embedded ML: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• Wahyutama &amp; Hwang (2022): 91% accuracy classifying recyclables on Raspberry Pi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• Edge Impulse Studio: browser-based ML platform, no coding required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• MobileNetV2: optimised for resource-constrained devices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(Wahyutama &amp; Hwang, 2022; Edge Impulse, 2024)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09160" y="685800"/>
            <a:ext cx="4160520" cy="416052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09160" y="685800"/>
            <a:ext cx="416052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800600" y="7132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9"/>
                </a:solidFill>
              </a:rPr>
              <a:t>Usability Evaluation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14300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Established HCI evaluation frameworks: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• System Usability Scale (SUS): 10-item, 0-100 score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• 40+ years of comparative benchmarking data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• Benchmarks (Lewis, 2018):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   – Excellent: &gt;80.3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   – Good: 68–80.3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8FAFC"/>
                </a:solidFill>
              </a:rPr>
              <a:t>   – Poor: &lt;51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46177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(Lewis, 2018; Nielsen &amp; Gibbons, 2022)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Requirements (MoSCoW Framework)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7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2121408" cy="41148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731520"/>
            <a:ext cx="2121408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74320" y="758952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9"/>
                </a:solidFill>
              </a:rPr>
              <a:t>MUST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23444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</a:rPr>
              <a:t>• Real-time bottle classification (Pi + camera)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947672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</a:rPr>
              <a:t>• Point award system based on confidence threshold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660904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</a:rPr>
              <a:t>• User authentication &amp; dashboard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3374136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</a:rPr>
              <a:t>• Scan history with full metadata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4087368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</a:rPr>
              <a:t>• Continuous backend polling from device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87168" y="731520"/>
            <a:ext cx="2121408" cy="41148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487168" y="731520"/>
            <a:ext cx="2121408" cy="3657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487168" y="758952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9"/>
                </a:solidFill>
              </a:rPr>
              <a:t>SHOULD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78608" y="123444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</a:rPr>
              <a:t>• Interactive recycling location map (postcode search)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78608" y="1947672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</a:rPr>
              <a:t>• Live MJPEG camera stream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78608" y="2660904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</a:rPr>
              <a:t>• Scan result polling endpoint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0016" y="731520"/>
            <a:ext cx="2121408" cy="41148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700016" y="731520"/>
            <a:ext cx="2121408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700016" y="758952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9"/>
                </a:solidFill>
              </a:rPr>
              <a:t>COULD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91456" y="123444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</a:rPr>
              <a:t>• Weight-based bottle verification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91456" y="1947672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</a:rPr>
              <a:t>• Leaderboard for user comparisons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12864" y="731520"/>
            <a:ext cx="2121408" cy="41148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912864" y="731520"/>
            <a:ext cx="2121408" cy="36576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912864" y="758952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9"/>
                </a:solidFill>
              </a:rPr>
              <a:t>WON'T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04304" y="123444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</a:rPr>
              <a:t>• Real-world retailer integration (out of scope)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004304" y="1947672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</a:rPr>
              <a:t>• Financial payment processing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Methodology — Scrum &amp; Mixed Methods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8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Development Approach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Scrum-informed iterative development: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16-week timeline, 2-week sprints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Gantt-based milestone tracking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Sprint reviews with supervisor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MoSCoW reprioritisation each cycle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(Schwaber &amp; Sutherland, 2020)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09160" y="73152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9204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</a:rPr>
              <a:t>Research Design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14300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Mixed-methods evaluation: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Quantitative: Jisc Survey (n=25)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Quantitative: SUS Questionnaire (n=8)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Quantitative: Classification testing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Qualitative: Observational notes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468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(Interaction Design Foundation, 2024)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85953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Ethics &amp; Compliance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Ethics approval obtained through Solent University ethics portal prior to user testing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All participants gave informed consent; participation voluntary and anonymous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Camera captures frames for real-time classification only, no images stored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Firestore security rules restrict data access to authenticated account owner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UK GDPR compliance: minimum data collection, clear privacy info, deletion rights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Technology Stack &amp; Justification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9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8229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Computing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Raspberry Pi 4 (4GB)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6916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Lowest-cost ML-capable platform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73152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91840" y="8229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Camera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0972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Camera Module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6916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Native Picamera2, autofocus, 12MP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73152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172200" y="8229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ML Platform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10972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Edge Impulse Studio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6916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Browser-based, free tier, no-code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11480" y="2880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Backend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1546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Node.js + Express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7490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Lightweight, JS ecosystem unity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54680" y="278892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291840" y="2880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Frontend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31546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React 18 + TypeScript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7490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Type-safe, component-based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278892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172200" y="2880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Database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31546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Firebase Firestore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37490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Real-time, free tier, secure rules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 Architecture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10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2834640" cy="40233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731520"/>
            <a:ext cx="283464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74320" y="777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9"/>
                </a:solidFill>
              </a:rPr>
              <a:t>Edge Device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1280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Raspberry Pi 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Picamera2 capture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Edge Impulse SDK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Local inference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Polls backend (2s)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731520"/>
            <a:ext cx="2834640" cy="40233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200400" y="731520"/>
            <a:ext cx="2834640" cy="45720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200400" y="777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9"/>
                </a:solidFill>
              </a:rPr>
              <a:t>Backend Service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1280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Node.js + Express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RESTful API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In-memory scan queue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Firestore writes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Result routing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731520"/>
            <a:ext cx="2834640" cy="402336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126480" y="731520"/>
            <a:ext cx="283464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126480" y="777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9"/>
                </a:solidFill>
              </a:rPr>
              <a:t>Web Application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1280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React + TypeScript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Firebase Auth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Dashboard &amp; history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Recycling map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• Result polling (1.5s)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35808" y="246888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→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961888" y="246888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Hardware &amp; Machine Learning 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11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4069080"/>
          </a:xfrm>
          <a:prstGeom prst="roundRect">
            <a:avLst>
              <a:gd name="adj" fmla="val 179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Hardware Setup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3931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Raspberry Pi 4 Model B (4GB RAM)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Raspberry Pi OS 64-bit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Camera Module 3: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• 12MP Sony IMX708 sensor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• Phase detection autofocus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• 640×480 @ 20fps capture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Custom enclosure for consistent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background &amp; lighting control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4069080"/>
          </a:xfrm>
          <a:prstGeom prst="roundRect">
            <a:avLst>
              <a:gd name="adj" fmla="val 179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89204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</a:rPr>
              <a:t>ML Model 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143000"/>
            <a:ext cx="3931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MobileNetV2 transfer learning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via Edge Impulse Studio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Classes: 500ml | 750ml | Unknown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Dataset: 158 images (135 train / 23 test)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80% confidence threshold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Edge Impulse Linux Python SDK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Design pivot: OpenCV pre-processing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removed — equivalent accuracy with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lower per-frame latency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Backend Implementation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12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Node.js + Express RESTful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Significant expansion from original plan (which described Firebase-only backend). Scan orchestration required server-side state management beyond Firebase SDK capabilities.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11480" y="1947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</a:rPr>
              <a:t>POST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1947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/api/request-scan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9476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Add user scan request to queue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432304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11480" y="255117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25511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/api/next-pending-scan/:deviceId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5511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Pi polls for queued requests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35808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11480" y="3154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</a:rPr>
              <a:t>POST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3154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/api/scan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Pi submits successful classification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639312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11480" y="375818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</a:rPr>
              <a:t>POST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80160" y="37581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/api/scan-result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37581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Pi submits failed scan result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242816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11480" y="43616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43616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/api/scan-result/:userId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43616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Frontend polls for completion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Frontend Web Application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13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React 18 + TypeScript + Tailwind CSS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Significant upgrade from original HTML/CSS/JS plan — chosen after evaluating the complexity of state management, authentication, and multi-page navigation requirements.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74320" y="1828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4320" y="22860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Auth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606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</a:rPr>
              <a:t>Login/Register via Firebase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169164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154680" y="1828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154680" y="22860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Dashboard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2606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</a:rPr>
              <a:t>Points, bottles, CO₂ saved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035040" y="1828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035040" y="22860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Scan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606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</a:rPr>
              <a:t>Trigger + live camera + result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429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74320" y="3886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History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4206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</a:rPr>
              <a:t>Paginated scan log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54680" y="329184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154680" y="3429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🎁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154680" y="3886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Rewards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91840" y="4206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</a:rPr>
              <a:t>Redemption catalogue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329184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035040" y="3429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035040" y="3886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Map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72200" y="4206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</a:rPr>
              <a:t>UK postcode recycling lookup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Recycling Map &amp; Implementation Pivots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14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4069080"/>
          </a:xfrm>
          <a:prstGeom prst="roundRect">
            <a:avLst>
              <a:gd name="adj" fmla="val 179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Recycling Location Map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3931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Leaflet + OpenStreetMap tiles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User flow: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1. User enters UK postcode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2. postcodes.io → coordinates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3. Overpass API queries OSM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4. Returns nearest 15 within 5km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5. Sorted by distance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No API key required — fully free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4069080"/>
          </a:xfrm>
          <a:prstGeom prst="roundRect">
            <a:avLst>
              <a:gd name="adj" fmla="val 179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89204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</a:rPr>
              <a:t>Key Implementation Pivots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143000"/>
            <a:ext cx="3931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1. OpenCV pre-processing removed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   → Edge Impulse handled background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   variation directly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2. Frontend migrated to React/TS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   → Plain HTML/JS impractical for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   complex state management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3. Polling adopted over WebSockets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   → Simpler debugging for prototype,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   noted as future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 — Classification Performance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15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Overall 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10B981"/>
                </a:solidFill>
              </a:rPr>
              <a:t>91.30%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Met NFR2 — exceeded 80% threshold</a:t>
            </a:r>
            <a:endParaRPr lang="en-US" sz="9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572000" y="731520"/>
          <a:ext cx="42976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274320" y="2286000"/>
            <a:ext cx="4160520" cy="2514600"/>
          </a:xfrm>
          <a:prstGeom prst="roundRect">
            <a:avLst>
              <a:gd name="adj" fmla="val 2909"/>
            </a:avLst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Per-Class Results (n=23 test)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2697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Class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828800" y="2697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Accuracy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017520" y="2697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F1 Score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500ml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828800" y="2971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77.8%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017520" y="2971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0.88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750ml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82880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100%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01752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0.94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Unknown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828800" y="3703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100%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017520" y="3703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1.00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4434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500ml↔750ml visual similarity = main source of error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0" y="3200400"/>
            <a:ext cx="4297680" cy="160020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475488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Literature Comparison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54880" y="356616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Wahyutama &amp; Hwang (2022): 91% accuracy on Pi with full OpenCV pipeline.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RECAP: 91.30% with only 158 images and NO pre-processing — demonstrates Edge Impulse efficiency.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 — System Performance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16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End-to-End Scan Latency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Measured from user clicking 'Scan' to result appearing on dashboard (9 test scans)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74320" y="17830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Minimum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10312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</a:rPr>
              <a:t>1,517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74320" y="26974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milliseconds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54680" y="16916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154680" y="17830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Average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54680" y="210312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</a:rPr>
              <a:t>2,360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154680" y="26974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milliseconds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035040" y="17830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Maximum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10312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</a:rPr>
              <a:t>3,025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035040" y="26974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milliseconds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8595360" cy="164592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Why Bimodal Distribution?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Latency distribution showed two clusters at ~1.5s and ~3.0s. This is a direct consequence of polling architecture: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Pi polls backend every 2 seconds for pending scans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Frontend polls every 1.5 seconds for results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Scans picked up in first Pi poll cycle → ~1.5s | Missed → +1.5s wait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WebSocket push architecture would eliminate this (see Future Work)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 — Jisc Survey (n=25)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17 / 25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73152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572000" y="731520"/>
            <a:ext cx="4297680" cy="1280160"/>
          </a:xfrm>
          <a:prstGeom prst="roundRect">
            <a:avLst>
              <a:gd name="adj" fmla="val 5714"/>
            </a:avLst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75488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Mean Intent Score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1097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</a:rPr>
              <a:t>4.48 / 5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754880" y="1737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92% selected 4 or 5 — overwhelmingly positive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0" y="210312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75488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DRS Awareness Finding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54880" y="24688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Only 36% (9) were aware of UK DRS plans.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56% (14) were unaware; 8% unsure.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Reinforces literature: low public awareness despite confirmed policy.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4320" y="361188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Preferred Reward Types (multi-select)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Supermarket vouchers: 72%   |   Cash rewards: 68%   |   Discount codes: 44%   |   Eco products: 4%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Aligns with Krath &amp; von Korflesch (2021): tangible immediate rewards drive engagement.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 — System Usability Scale (n=8)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18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4069080"/>
          </a:xfrm>
          <a:prstGeom prst="roundRect">
            <a:avLst>
              <a:gd name="adj" fmla="val 179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Mean SUS Score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10B981"/>
                </a:solidFill>
              </a:rPr>
              <a:t>87.8</a:t>
            </a:r>
            <a:endParaRPr lang="en-US" sz="110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/ 100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9"/>
                </a:solidFill>
              </a:rPr>
              <a:t>EXCELLENT BAND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Excellent: &gt;80.3 (Lewis, 2018)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Exceeded NFR3 minimum of 68</a:t>
            </a:r>
            <a:endParaRPr lang="en-US" sz="10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572000" y="731520"/>
          <a:ext cx="42976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4572000" y="393192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709160" y="4023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Q4 (technical support needed): 1.38   |   Q8 (cumbersome): 1.38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09160" y="4297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Near-unanimous disagreement with negative items confirms intuitive UX.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Limitations &amp; Critical Reflection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19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731520"/>
            <a:ext cx="137160" cy="9601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48640" y="85039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Dataset Scope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1247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158 images across only 3 classes. Limited brand/lighting diversity. Misclassifications between 500ml and 750ml reflect this constraint.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74320" y="1737360"/>
            <a:ext cx="137160" cy="9601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8640" y="185623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In-Memory Orchestration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13055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Express backend uses in-memory Maps for scan queue. Acceptable for single-device prototype but unsuitable for production multi-device deployment.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137160" cy="9601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8640" y="286207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Convenience Sample (n=8 SUS, n=25 survey)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13639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University cohort may not represent general public, limits generalisability of usability findings.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137160" cy="9601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48640" y="386791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Polling Architecture Latency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1422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Adds ~1.5s in worst case. WebSocket push would deliver sub-500ms results.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Conclusions &amp; Future 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20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4069080"/>
          </a:xfrm>
          <a:prstGeom prst="roundRect">
            <a:avLst>
              <a:gd name="adj" fmla="val 179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Research question answered affirmatively: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✓ Accessible tools effectively identify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   plastic bottles (91.30%)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✓ System demonstrates DRS feasibility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   in prototype form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✓ Excellent usability achieved (SUS 87.8)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✓ Strong public intent confirmed (4.48/5)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✓ All Must Have objectives delivered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731520"/>
            <a:ext cx="4160520" cy="4069080"/>
          </a:xfrm>
          <a:prstGeom prst="roundRect">
            <a:avLst>
              <a:gd name="adj" fmla="val 179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9204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</a:rPr>
              <a:t>Recommendations for Future 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143000"/>
            <a:ext cx="3931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1. Expand training dataset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   (more classes, brands, lighting)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2. Add weight-based verification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   (load cell on GPIO)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3. Replace polling with WebSockets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   (Socket.io integration)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4. Persistent scan orchestration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   (Redis/BullMQ queue)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5. DRS infrastructure integration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</a:rPr>
              <a:t>   (retailer/national scheme APIs)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5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45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References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45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21 /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8595360" cy="416052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</a:rPr>
              <a:t>Defra, 2023. Deposit Return Scheme for drinks containers: government response. London: DEFRA.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</a:rPr>
              <a:t>Edge Impulse, 2024. Edge Impulse documentation. Available at: docs.edgeimpulse.com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</a:rPr>
              <a:t>Koivisto, J. and Hamari, J., 2019. 'Gamification: a decade in review', International Journal of Human-Computer Studies, 172, 103006.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</a:rPr>
              <a:t>Krath, J. and von Korflesch, H.F.O., 2021. 'Gamification and sustainable behaviour change: a systematic update', Sustainability, 15(8), 6543.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</a:rPr>
              <a:t>Lewis, J.R., 2018. 'The System Usability Scale: past, present, and future', International Journal of Human–Computer Interaction, 34(7), pp. 577–590.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</a:rPr>
              <a:t>Nielsen, J. and Gibbons, S., 2022. Heuristic evaluation of user interfaces. Nielsen Norman Group.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</a:rPr>
              <a:t>Raspberry Pi Foundation, 2024. Camera Module 3 documentation. Available at: raspberrypi.com/documentation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</a:rPr>
              <a:t>Reloop Platform, 2024. The global deposit return landscape 2024.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</a:rPr>
              <a:t>Schwaber, K. and Sutherland, J., 2020. The Scrum Guide. Available at: scrumguides.org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</a:rPr>
              <a:t>Wahyutama, A.B. and Hwang, M., 2022. 'Real-time object detection on embedded systems', Journal of Real-Time Image Processing, 20(2), pp. 35–48.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</a:rPr>
              <a:t>WRAP, 2024. UK plastics pact annual report 2023–24. Banbury: WRAP.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91440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</a:rPr>
              <a:t>♻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0B98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2129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Next: Live System Demonstration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Repository: github.com/AlinGolesie/RECAP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Alin Igna </a:t>
            </a:r>
            <a:r>
              <a:rPr lang="en-US" sz="1400" dirty="0" err="1">
                <a:solidFill>
                  <a:srgbClr val="94A3B8"/>
                </a:solidFill>
              </a:rPr>
              <a:t>Golesie</a:t>
            </a:r>
            <a:endParaRPr lang="en-US" sz="1400" dirty="0">
              <a:solidFill>
                <a:srgbClr val="94A3B8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  QHO656-AE3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BSc (Hons) Computing Science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 Southampton Solent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91440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</a:rPr>
              <a:t>♻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308860"/>
            <a:ext cx="9144000" cy="1592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0B981"/>
                </a:solidFill>
              </a:rPr>
              <a:t>Questions &amp; Answers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2269</Words>
  <Application>Microsoft Office PowerPoint</Application>
  <PresentationFormat>On-screen Show (16:9)</PresentationFormat>
  <Paragraphs>482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Dissertation</dc:title>
  <dc:subject>PptxGenJS Presentation</dc:subject>
  <dc:creator>Alin Igna Golesie</dc:creator>
  <cp:lastModifiedBy>Alin Golesie</cp:lastModifiedBy>
  <cp:revision>3</cp:revision>
  <dcterms:created xsi:type="dcterms:W3CDTF">2026-06-15T00:09:33Z</dcterms:created>
  <dcterms:modified xsi:type="dcterms:W3CDTF">2026-06-15T19:58:16Z</dcterms:modified>
</cp:coreProperties>
</file>